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8"/>
  </p:notesMasterIdLst>
  <p:sldIdLst>
    <p:sldId id="267" r:id="rId2"/>
    <p:sldId id="335" r:id="rId3"/>
    <p:sldId id="336" r:id="rId4"/>
    <p:sldId id="412" r:id="rId5"/>
    <p:sldId id="401" r:id="rId6"/>
    <p:sldId id="354" r:id="rId7"/>
    <p:sldId id="393" r:id="rId8"/>
    <p:sldId id="417" r:id="rId9"/>
    <p:sldId id="418" r:id="rId10"/>
    <p:sldId id="394" r:id="rId11"/>
    <p:sldId id="413" r:id="rId12"/>
    <p:sldId id="414" r:id="rId13"/>
    <p:sldId id="419" r:id="rId14"/>
    <p:sldId id="420" r:id="rId15"/>
    <p:sldId id="396" r:id="rId16"/>
    <p:sldId id="33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顾 恒瑞" initials="顾" lastIdx="1" clrIdx="0">
    <p:extLst>
      <p:ext uri="{19B8F6BF-5375-455C-9EA6-DF929625EA0E}">
        <p15:presenceInfo xmlns:p15="http://schemas.microsoft.com/office/powerpoint/2012/main" userId="78efff4828bd47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2E73"/>
    <a:srgbClr val="576C87"/>
    <a:srgbClr val="39DDE6"/>
    <a:srgbClr val="E1E1E1"/>
    <a:srgbClr val="FFCC00"/>
    <a:srgbClr val="FFDE02"/>
    <a:srgbClr val="2E75B6"/>
    <a:srgbClr val="44546A"/>
    <a:srgbClr val="FDC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87456" autoAdjust="0"/>
  </p:normalViewPr>
  <p:slideViewPr>
    <p:cSldViewPr snapToGrid="0" showGuides="1">
      <p:cViewPr varScale="1">
        <p:scale>
          <a:sx n="58" d="100"/>
          <a:sy n="58" d="100"/>
        </p:scale>
        <p:origin x="846" y="34"/>
      </p:cViewPr>
      <p:guideLst>
        <p:guide orient="horz" pos="8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db93ae8de4200f6" providerId="LiveId" clId="{51FBCA90-95E5-4ACE-B943-9087AFAEA27B}"/>
    <pc:docChg chg="modSld">
      <pc:chgData name="" userId="5db93ae8de4200f6" providerId="LiveId" clId="{51FBCA90-95E5-4ACE-B943-9087AFAEA27B}" dt="2023-03-20T06:55:10.793" v="1" actId="20577"/>
      <pc:docMkLst>
        <pc:docMk/>
      </pc:docMkLst>
      <pc:sldChg chg="modSp">
        <pc:chgData name="" userId="5db93ae8de4200f6" providerId="LiveId" clId="{51FBCA90-95E5-4ACE-B943-9087AFAEA27B}" dt="2023-03-20T06:55:10.793" v="1" actId="20577"/>
        <pc:sldMkLst>
          <pc:docMk/>
          <pc:sldMk cId="4142953614" sldId="336"/>
        </pc:sldMkLst>
        <pc:spChg chg="mod">
          <ac:chgData name="" userId="5db93ae8de4200f6" providerId="LiveId" clId="{51FBCA90-95E5-4ACE-B943-9087AFAEA27B}" dt="2023-03-20T06:55:10.793" v="1" actId="20577"/>
          <ac:spMkLst>
            <pc:docMk/>
            <pc:sldMk cId="4142953614" sldId="336"/>
            <ac:spMk id="9" creationId="{42FDDA9D-022B-692D-CCD5-C2EAEFDB8F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D5374-CAC2-4A99-BAFC-4FD9D64443F4}" type="datetimeFigureOut">
              <a:rPr lang="zh-CN" altLang="en-US" smtClean="0"/>
              <a:pPr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6A5EB-DBDD-4BB6-B956-8F5082F975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66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改一下改成线性模型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924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933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35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22226"/>
                </a:solidFill>
                <a:effectLst/>
                <a:latin typeface="PingFang SC"/>
              </a:rPr>
              <a:t>diabetes</a:t>
            </a:r>
            <a:r>
              <a:rPr lang="zh-CN" altLang="en-US" b="0" i="0" dirty="0">
                <a:solidFill>
                  <a:srgbClr val="222226"/>
                </a:solidFill>
                <a:effectLst/>
                <a:latin typeface="PingFang SC"/>
              </a:rPr>
              <a:t>数据集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880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773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初始化权重和偏置参数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988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初始化权重和偏置参数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9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54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533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629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初始化权重和偏置参数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49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初始化权重和偏置参数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096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38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3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F47190-579A-4E47-88E5-63CEBBC7A2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3850" y="969963"/>
            <a:ext cx="11811000" cy="536098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>
                <a:solidFill>
                  <a:srgbClr val="000000"/>
                </a:solidFill>
              </a:defRPr>
            </a:lvl1pPr>
            <a:lvl2pPr marL="685783" indent="-228594">
              <a:lnSpc>
                <a:spcPct val="150000"/>
              </a:lnSpc>
              <a:buFont typeface="Wingdings" panose="05000000000000000000" pitchFamily="2" charset="2"/>
              <a:buChar char="ü"/>
              <a:defRPr sz="1800">
                <a:solidFill>
                  <a:srgbClr val="000000"/>
                </a:solidFill>
              </a:defRPr>
            </a:lvl2pPr>
            <a:lvl3pPr marL="1142971" indent="-228594">
              <a:lnSpc>
                <a:spcPct val="150000"/>
              </a:lnSpc>
              <a:buFont typeface="微软雅黑" panose="020B0503020204020204" pitchFamily="34" charset="-122"/>
              <a:buChar char="­"/>
              <a:defRPr sz="1800">
                <a:solidFill>
                  <a:srgbClr val="000000"/>
                </a:solidFill>
              </a:defRPr>
            </a:lvl3pPr>
            <a:lvl4pPr>
              <a:lnSpc>
                <a:spcPct val="150000"/>
              </a:lnSpc>
              <a:defRPr sz="1800">
                <a:solidFill>
                  <a:srgbClr val="000000"/>
                </a:solidFill>
              </a:defRPr>
            </a:lvl4pPr>
            <a:lvl5pPr>
              <a:lnSpc>
                <a:spcPct val="150000"/>
              </a:lnSpc>
              <a:defRPr sz="1800">
                <a:solidFill>
                  <a:srgbClr val="000000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 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438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8336" y="1584605"/>
            <a:ext cx="4307664" cy="430766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012267" y="3732107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170251" y="3732107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5743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382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600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1341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1341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206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4384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8768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152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97536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4384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768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536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9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7" name="矩形 7"/>
          <p:cNvSpPr/>
          <p:nvPr userDrawn="1"/>
        </p:nvSpPr>
        <p:spPr>
          <a:xfrm>
            <a:off x="1" y="762862"/>
            <a:ext cx="12184067" cy="4570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1" tIns="60940" rIns="121881" bIns="60940" anchor="ctr"/>
          <a:lstStyle/>
          <a:p>
            <a:pPr algn="ctr"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43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2006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2006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449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8768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97536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4384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152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462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382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382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620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CAS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4572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4572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382000" y="1341120"/>
            <a:ext cx="2286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4572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887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225157" y="1594192"/>
            <a:ext cx="4307664" cy="430766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98016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061587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42188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979164" y="3748024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043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12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45720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798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53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2377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901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53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377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901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3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2377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901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6277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5240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010400" y="1341120"/>
            <a:ext cx="3657600" cy="3657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3528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816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4636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54350" y="1651001"/>
            <a:ext cx="6032500" cy="40005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3471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60407" y="1651001"/>
            <a:ext cx="6032500" cy="40005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8735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14400" y="1341120"/>
            <a:ext cx="4876800" cy="3657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400800" y="1341120"/>
            <a:ext cx="4876800" cy="3657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3680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398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276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4570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344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4800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4256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763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06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154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643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06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154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5290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>
                <a:solidFill>
                  <a:srgbClr val="44546A"/>
                </a:solidFill>
              </a:rPr>
              <a:pPr/>
              <a:t>‹#›</a:t>
            </a:fld>
            <a:endParaRPr lang="uk-UA" dirty="0">
              <a:solidFill>
                <a:srgbClr val="44546A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722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4038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722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23000" y="4038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026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>
                <a:solidFill>
                  <a:srgbClr val="44546A"/>
                </a:solidFill>
              </a:rPr>
              <a:pPr/>
              <a:t>‹#›</a:t>
            </a:fld>
            <a:endParaRPr lang="uk-UA">
              <a:solidFill>
                <a:srgbClr val="44546A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92480" y="172212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92480" y="403860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108960" y="172212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108960" y="403860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2474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382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0010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4196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511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636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560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484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408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636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5560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2484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89408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3319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14400" y="1803400"/>
            <a:ext cx="10363200" cy="1828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144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488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3152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1816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0480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010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-MEDIA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2" hasCustomPrompt="1"/>
          </p:nvPr>
        </p:nvSpPr>
        <p:spPr>
          <a:xfrm>
            <a:off x="838200" y="1558798"/>
            <a:ext cx="7326941" cy="4121405"/>
          </a:xfrm>
          <a:prstGeom prst="rect">
            <a:avLst/>
          </a:prstGeom>
        </p:spPr>
        <p:txBody>
          <a:bodyPr lIns="45720" tIns="22860" rIns="45720" bIns="22860"/>
          <a:lstStyle/>
          <a:p>
            <a:r>
              <a:rPr lang="en-US" dirty="0"/>
              <a:t>Click icon to add media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4175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7857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2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8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391650" y="64193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37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05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8" r:id="rId32"/>
    <p:sldLayoutId id="2147483709" r:id="rId3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61546"/>
            <a:ext cx="12249510" cy="692817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38600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88189" y="4484700"/>
            <a:ext cx="11525644" cy="646331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聚类代码实践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53052" y="5359400"/>
            <a:ext cx="7946680" cy="961289"/>
            <a:chOff x="2002264" y="3258103"/>
            <a:chExt cx="8187473" cy="961286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王一立、王若冰</a:t>
              </a:r>
              <a:endParaRPr lang="en-US" altLang="zh-CN" sz="2000" b="1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我们将要</a:t>
            </a:r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7EC78C-99F7-488E-8950-E245043EB4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了解并实现密度聚类与层次</a:t>
            </a:r>
            <a:r>
              <a:rPr lang="zh-CN" altLang="en-US"/>
              <a:t>聚类两种聚类</a:t>
            </a:r>
            <a:r>
              <a:rPr lang="zh-CN" altLang="en-US" dirty="0"/>
              <a:t>算法</a:t>
            </a:r>
            <a:endParaRPr lang="en-US" altLang="zh-CN" dirty="0"/>
          </a:p>
          <a:p>
            <a:r>
              <a:rPr lang="zh-CN" altLang="en-US" dirty="0"/>
              <a:t>主要形式为内容讲解与随堂练习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2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FDDA9D-022B-692D-CCD5-C2EAEFDB8FB1}"/>
                  </a:ext>
                </a:extLst>
              </p:cNvPr>
              <p:cNvSpPr txBox="1"/>
              <p:nvPr/>
            </p:nvSpPr>
            <p:spPr>
              <a:xfrm>
                <a:off x="1013178" y="1070254"/>
                <a:ext cx="9598378" cy="3159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密度聚类：</a:t>
                </a:r>
                <a:endParaRPr lang="en-US" altLang="zh-CN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en-US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密度聚类也</a:t>
                </a:r>
                <a:r>
                  <a:rPr lang="zh-CN" altLang="en-US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称作“基于密度的聚类”</a:t>
                </a:r>
                <a:r>
                  <a:rPr lang="en-US" altLang="zh-CN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 err="1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desnity</a:t>
                </a:r>
                <a:r>
                  <a:rPr lang="en-US" altLang="zh-CN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-based clustering)</a:t>
                </a:r>
                <a:r>
                  <a:rPr lang="zh-CN" altLang="en-US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，此类算法假设聚类结构能通过样本分布的紧密程度确定。通常情形下，密度聚类算法从样本密度的角度来考察样本之间的可连接性，并基于可连接样本不断扩展聚类簇以获得最终的聚类结果。</a:t>
                </a:r>
                <a:endParaRPr lang="en-US" altLang="zh-CN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1800" dirty="0"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1800" dirty="0"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1800" dirty="0"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256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3.DBSCAN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算法</a:t>
                </a:r>
                <a:endParaRPr lang="en-US" altLang="zh-CN" sz="2000" b="1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ts val="256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给定样本集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，定义下面几个概念：</a:t>
                </a:r>
                <a:endParaRPr lang="en-US" altLang="zh-CN" sz="1200" dirty="0"/>
              </a:p>
              <a:p>
                <a:pPr algn="just"/>
                <a:endParaRPr lang="zh-CN" altLang="en-US" sz="1200" dirty="0"/>
              </a:p>
              <a:p>
                <a:pPr algn="just"/>
                <a:endParaRPr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FDDA9D-022B-692D-CCD5-C2EAEFDB8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78" y="1070254"/>
                <a:ext cx="9598378" cy="3159839"/>
              </a:xfrm>
              <a:prstGeom prst="rect">
                <a:avLst/>
              </a:prstGeom>
              <a:blipFill>
                <a:blip r:embed="rId3"/>
                <a:stretch>
                  <a:fillRect l="-635" t="-1158" r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7E595696-180A-0A53-29DA-79CD428E7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42" y="4501734"/>
            <a:ext cx="7943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5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3F1C0-E490-9965-DEF0-4DE793BD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F5A617-69F9-E890-7AB5-C8FF07D41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76823F-C81A-9855-73E3-1B1C0278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724000"/>
            <a:ext cx="7800975" cy="36004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C349C1-6A8E-634B-EF47-7FFAE6B24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786" y="4458010"/>
            <a:ext cx="416242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8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69F45-C944-CCC1-AB02-568F1CCE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414E93-B784-3B96-6C3A-97E4EC34B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96009" y="5856270"/>
            <a:ext cx="5538841" cy="928251"/>
          </a:xfrm>
        </p:spPr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E39804-5D3A-E1F7-58A1-BD347B631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254" y="653871"/>
            <a:ext cx="5057492" cy="620412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831107-A778-9CFC-11A4-93A0630D12DA}"/>
              </a:ext>
            </a:extLst>
          </p:cNvPr>
          <p:cNvSpPr txBox="1"/>
          <p:nvPr/>
        </p:nvSpPr>
        <p:spPr>
          <a:xfrm>
            <a:off x="873505" y="1042555"/>
            <a:ext cx="1118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算法流程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111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E0213-1BE0-173B-73C3-59C5083735A5}"/>
              </a:ext>
            </a:extLst>
          </p:cNvPr>
          <p:cNvSpPr txBox="1"/>
          <p:nvPr/>
        </p:nvSpPr>
        <p:spPr>
          <a:xfrm>
            <a:off x="1013179" y="1070254"/>
            <a:ext cx="3616574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/>
              <a:t>202</a:t>
            </a:r>
            <a:r>
              <a:rPr lang="zh-CN" altLang="en-US" b="1"/>
              <a:t>页数据</a:t>
            </a:r>
            <a:r>
              <a:rPr lang="zh-CN" altLang="en-US" b="1" dirty="0"/>
              <a:t>集</a:t>
            </a:r>
            <a:r>
              <a:rPr lang="zh-CN" altLang="en-US" dirty="0"/>
              <a:t>：生成的二维数据集</a:t>
            </a:r>
            <a:endParaRPr lang="en-US" altLang="zh-CN" dirty="0"/>
          </a:p>
          <a:p>
            <a:pPr algn="just"/>
            <a:endParaRPr lang="en-US" altLang="zh-CN" sz="105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dirty="0"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watermelon.txt</a:t>
            </a:r>
            <a:endParaRPr lang="zh-CN" altLang="en-US" b="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13F988-3B15-5B16-6A66-81D317F48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835" y="1219200"/>
            <a:ext cx="16002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92EF05-6D8A-46DA-A3CF-190FE662A84A}"/>
              </a:ext>
            </a:extLst>
          </p:cNvPr>
          <p:cNvSpPr txBox="1"/>
          <p:nvPr/>
        </p:nvSpPr>
        <p:spPr>
          <a:xfrm>
            <a:off x="1241984" y="2022071"/>
            <a:ext cx="10083241" cy="329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创建虚拟环境：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create --name cluster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python=3.13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激活此环境：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activate cluster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安装依赖包：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install numpy pandas matplotlib seaborn scikit-learn</a:t>
            </a:r>
            <a:endParaRPr lang="en-US" altLang="zh-CN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可能存在的问题：</a:t>
            </a:r>
            <a:r>
              <a:rPr lang="en-US" altLang="zh-CN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zh-CN" altLang="en-US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镜像源</a:t>
            </a:r>
            <a:r>
              <a:rPr lang="en-US" altLang="zh-CN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修改源</a:t>
            </a:r>
            <a:endParaRPr lang="en-US" altLang="zh-CN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</a:t>
            </a:r>
            <a:r>
              <a:rPr lang="zh-CN" altLang="en-US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卡住</a:t>
            </a:r>
            <a:r>
              <a:rPr lang="en-US" altLang="zh-CN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换成 </a:t>
            </a:r>
            <a:r>
              <a:rPr lang="en-US" altLang="zh-CN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 install </a:t>
            </a:r>
            <a:r>
              <a:rPr lang="en-US" altLang="zh-CN" dirty="0" err="1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en-US" altLang="zh-CN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测试一下：</a:t>
            </a:r>
            <a:r>
              <a:rPr lang="en-US" altLang="zh-CN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155488-28A3-4098-76D7-A2C535EE8076}"/>
              </a:ext>
            </a:extLst>
          </p:cNvPr>
          <p:cNvSpPr txBox="1"/>
          <p:nvPr/>
        </p:nvSpPr>
        <p:spPr>
          <a:xfrm>
            <a:off x="1013178" y="1070254"/>
            <a:ext cx="959837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虚拟环境</a:t>
            </a:r>
            <a:r>
              <a:rPr lang="en-US" altLang="zh-CN" b="1" dirty="0" err="1"/>
              <a:t>conda</a:t>
            </a:r>
            <a:r>
              <a:rPr lang="zh-CN" altLang="en-US" b="1" dirty="0"/>
              <a:t>准备</a:t>
            </a:r>
            <a:r>
              <a:rPr lang="zh-CN" altLang="en-US" dirty="0"/>
              <a:t>：</a:t>
            </a:r>
            <a:endParaRPr lang="en-US" altLang="zh-CN" dirty="0"/>
          </a:p>
          <a:p>
            <a:pPr algn="just"/>
            <a:endParaRPr lang="en-US" altLang="zh-CN" sz="105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虚拟环境配置流程</a:t>
            </a:r>
            <a:r>
              <a:rPr lang="en-US" altLang="zh-CN" dirty="0"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71733F-A176-45F6-B59B-A289ED473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09" y="5456427"/>
            <a:ext cx="10386616" cy="9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A0FEA1E-0BAF-47D8-8B36-643DE69E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508" y="653871"/>
            <a:ext cx="5057492" cy="620412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2E059A-E87A-8B8C-01EF-9EB64371E79B}"/>
              </a:ext>
            </a:extLst>
          </p:cNvPr>
          <p:cNvSpPr txBox="1"/>
          <p:nvPr/>
        </p:nvSpPr>
        <p:spPr>
          <a:xfrm>
            <a:off x="1013178" y="1083219"/>
            <a:ext cx="959837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关键部分代码</a:t>
            </a:r>
            <a:r>
              <a:rPr lang="zh-CN" altLang="en-US" dirty="0"/>
              <a:t>：</a:t>
            </a:r>
            <a:endParaRPr lang="en-US" altLang="zh-CN" dirty="0"/>
          </a:p>
          <a:p>
            <a:pPr algn="just"/>
            <a:endParaRPr lang="en-US" altLang="zh-CN" sz="105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1AD7CE1-02EC-4085-AE71-028011127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71" y="1521873"/>
            <a:ext cx="4321497" cy="526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7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A0FEA1E-0BAF-47D8-8B36-643DE69E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508" y="653871"/>
            <a:ext cx="5057492" cy="620412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2E059A-E87A-8B8C-01EF-9EB64371E79B}"/>
              </a:ext>
            </a:extLst>
          </p:cNvPr>
          <p:cNvSpPr txBox="1"/>
          <p:nvPr/>
        </p:nvSpPr>
        <p:spPr>
          <a:xfrm>
            <a:off x="735673" y="1083219"/>
            <a:ext cx="959837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关键部分代码</a:t>
            </a:r>
            <a:r>
              <a:rPr lang="zh-CN" altLang="en-US" dirty="0"/>
              <a:t>：</a:t>
            </a:r>
            <a:endParaRPr lang="en-US" altLang="zh-CN" dirty="0"/>
          </a:p>
          <a:p>
            <a:pPr algn="just"/>
            <a:endParaRPr lang="en-US" altLang="zh-CN" sz="105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BD5A863-6914-484A-83B4-8FEDFE335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755" y="1083219"/>
            <a:ext cx="4759753" cy="573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3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DBSCAN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0A9F26-197D-5FC8-B4A5-968816CE98FB}"/>
              </a:ext>
            </a:extLst>
          </p:cNvPr>
          <p:cNvSpPr txBox="1"/>
          <p:nvPr/>
        </p:nvSpPr>
        <p:spPr>
          <a:xfrm>
            <a:off x="1013178" y="1070254"/>
            <a:ext cx="1335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结果展示：</a:t>
            </a:r>
            <a:endParaRPr lang="en-US" altLang="zh-CN" sz="180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125FB0-FDC5-47EF-AD32-D447FA78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20" y="1488625"/>
            <a:ext cx="6096313" cy="45722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CE6DFC-CCB8-4AC2-8EED-AC0D045328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047" r="11047"/>
          <a:stretch/>
        </p:blipFill>
        <p:spPr>
          <a:xfrm>
            <a:off x="6828431" y="1488624"/>
            <a:ext cx="4749418" cy="45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7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AGNES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FDDA9D-022B-692D-CCD5-C2EAEFDB8FB1}"/>
              </a:ext>
            </a:extLst>
          </p:cNvPr>
          <p:cNvSpPr txBox="1"/>
          <p:nvPr/>
        </p:nvSpPr>
        <p:spPr>
          <a:xfrm>
            <a:off x="1013178" y="1070254"/>
            <a:ext cx="9598378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层次聚类：</a:t>
            </a:r>
            <a:endParaRPr lang="en-US" altLang="zh-CN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层次聚类</a:t>
            </a:r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(hierarchical clustering)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试图在不同层次对数据集进行划分，从而形成树形的聚类结构，数据集的划分可采用“自底向上”的聚合策略，也可采用“自顶向下”的分拆策略。</a:t>
            </a:r>
            <a:endParaRPr lang="en-US" altLang="zh-CN" sz="18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56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3.AGNES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en-US" altLang="zh-CN" sz="2000" b="1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AGNES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是一种采用自底向上聚合策略的层次聚类算法，它先将数据集中的每个样本看作一个初始聚类簇，然后在算法运行的每一步中找出距离最近的两个聚类簇进行合并，该过程不断重复，直至达到预设的聚类簇个数。</a:t>
            </a:r>
            <a:endParaRPr lang="en-US" altLang="zh-CN" sz="20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聚类簇之间的距离计算方法：</a:t>
            </a:r>
            <a:endParaRPr lang="en-US" altLang="zh-CN" sz="1200" dirty="0"/>
          </a:p>
          <a:p>
            <a:pPr algn="just"/>
            <a:endParaRPr lang="zh-CN" altLang="en-US" sz="1200" dirty="0"/>
          </a:p>
          <a:p>
            <a:pPr algn="just"/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1C975D-EBEE-8846-8C21-BA4D4238E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962" y="3925433"/>
            <a:ext cx="74580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1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69F45-C944-CCC1-AB02-568F1CCE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AGNES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414E93-B784-3B96-6C3A-97E4EC34B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96009" y="5856270"/>
            <a:ext cx="5538841" cy="928251"/>
          </a:xfrm>
        </p:spPr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831107-A778-9CFC-11A4-93A0630D12DA}"/>
              </a:ext>
            </a:extLst>
          </p:cNvPr>
          <p:cNvSpPr txBox="1"/>
          <p:nvPr/>
        </p:nvSpPr>
        <p:spPr>
          <a:xfrm>
            <a:off x="873505" y="1042555"/>
            <a:ext cx="1118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算法流程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94DCF9-820C-071A-08F3-38A8DE4A2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505" y="656056"/>
            <a:ext cx="3898990" cy="620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8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42700CBB-40A2-4F3A-ADC0-83C56E9D7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78" y="1381508"/>
            <a:ext cx="5465383" cy="547649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AGNES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2E059A-E87A-8B8C-01EF-9EB64371E79B}"/>
              </a:ext>
            </a:extLst>
          </p:cNvPr>
          <p:cNvSpPr txBox="1"/>
          <p:nvPr/>
        </p:nvSpPr>
        <p:spPr>
          <a:xfrm>
            <a:off x="1013178" y="1083219"/>
            <a:ext cx="959837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关键部分代码</a:t>
            </a:r>
            <a:r>
              <a:rPr lang="zh-CN" altLang="en-US" dirty="0"/>
              <a:t>：</a:t>
            </a:r>
            <a:endParaRPr lang="en-US" altLang="zh-CN" dirty="0"/>
          </a:p>
          <a:p>
            <a:pPr algn="just"/>
            <a:endParaRPr lang="en-US" altLang="zh-CN" sz="105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EB6866-6E8A-493C-86FD-5E2CFDDEB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67" y="1344837"/>
            <a:ext cx="6229670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7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FAAAD81-669B-4DFF-BD5A-CF4CC4FE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010" y="624211"/>
            <a:ext cx="3898990" cy="620194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AGNES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2E059A-E87A-8B8C-01EF-9EB64371E79B}"/>
              </a:ext>
            </a:extLst>
          </p:cNvPr>
          <p:cNvSpPr txBox="1"/>
          <p:nvPr/>
        </p:nvSpPr>
        <p:spPr>
          <a:xfrm>
            <a:off x="1013178" y="1083219"/>
            <a:ext cx="959837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关键部分代码</a:t>
            </a:r>
            <a:r>
              <a:rPr lang="zh-CN" altLang="en-US" dirty="0"/>
              <a:t>：</a:t>
            </a:r>
            <a:endParaRPr lang="en-US" altLang="zh-CN" dirty="0"/>
          </a:p>
          <a:p>
            <a:pPr algn="just"/>
            <a:endParaRPr lang="en-US" altLang="zh-CN" sz="105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06BCF8A-311C-4B4D-96C9-7066EAD02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45" y="1405795"/>
            <a:ext cx="7734698" cy="53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6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01B3-1703-4AAD-8577-CC5A894D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AGNES</a:t>
            </a:r>
            <a:r>
              <a:rPr lang="zh-CN" altLang="en-US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聚类算法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132BC8-1F84-4D84-B630-545DACCD0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0A9F26-197D-5FC8-B4A5-968816CE98FB}"/>
              </a:ext>
            </a:extLst>
          </p:cNvPr>
          <p:cNvSpPr txBox="1"/>
          <p:nvPr/>
        </p:nvSpPr>
        <p:spPr>
          <a:xfrm>
            <a:off x="1013178" y="1070254"/>
            <a:ext cx="1335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/>
              <a:t>结果展示：</a:t>
            </a:r>
            <a:endParaRPr lang="en-US" altLang="zh-CN" sz="1800" dirty="0">
              <a:effectLst/>
              <a:latin typeface="Georgia" panose="02040502050405020303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BC62C4-7FDE-46C8-8495-3650AF922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5802"/>
            <a:ext cx="5540992" cy="41557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32E372C-F22A-437E-96F7-86FFD522A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08" y="1505802"/>
            <a:ext cx="5540992" cy="415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1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38600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596670" y="4494863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53052" y="5359400"/>
            <a:ext cx="7946680" cy="961289"/>
            <a:chOff x="2002264" y="3258103"/>
            <a:chExt cx="8187473" cy="961286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王一立、王若冰</a:t>
              </a:r>
              <a:endParaRPr lang="en-US" altLang="zh-CN" sz="2000" b="1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16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24-浅色-办公趣味-多彩">
  <a:themeElements>
    <a:clrScheme name="CLASSIC - Standart Office">
      <a:dk1>
        <a:srgbClr val="44546A"/>
      </a:dk1>
      <a:lt1>
        <a:sysClr val="window" lastClr="FFFFFF"/>
      </a:lt1>
      <a:dk2>
        <a:srgbClr val="8496B0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方正兰亭粗黑简体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>
              <a:lumMod val="60000"/>
              <a:lumOff val="4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8206</TotalTime>
  <Words>448</Words>
  <Application>Microsoft Office PowerPoint</Application>
  <PresentationFormat>宽屏</PresentationFormat>
  <Paragraphs>93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PingFang SC</vt:lpstr>
      <vt:lpstr>方正粗黑宋简体</vt:lpstr>
      <vt:lpstr>方正兰亭粗黑简体</vt:lpstr>
      <vt:lpstr>方正兰亭特黑简体</vt:lpstr>
      <vt:lpstr>微软雅黑</vt:lpstr>
      <vt:lpstr>Arial</vt:lpstr>
      <vt:lpstr>Calibri</vt:lpstr>
      <vt:lpstr>Cambria Math</vt:lpstr>
      <vt:lpstr>Georgia</vt:lpstr>
      <vt:lpstr>Times New Roman</vt:lpstr>
      <vt:lpstr>Wingdings</vt:lpstr>
      <vt:lpstr>24-浅色-办公趣味-多彩</vt:lpstr>
      <vt:lpstr>PowerPoint 演示文稿</vt:lpstr>
      <vt:lpstr>我们将要…</vt:lpstr>
      <vt:lpstr>DBSCAN聚类算法</vt:lpstr>
      <vt:lpstr>DBSCAN聚类算法</vt:lpstr>
      <vt:lpstr>DBSCAN聚类算法</vt:lpstr>
      <vt:lpstr>DBSCAN聚类算法</vt:lpstr>
      <vt:lpstr>DBSCAN聚类算法</vt:lpstr>
      <vt:lpstr>DBSCAN聚类算法</vt:lpstr>
      <vt:lpstr>DBSCAN聚类算法</vt:lpstr>
      <vt:lpstr>DBSCAN聚类算法</vt:lpstr>
      <vt:lpstr>AGNES聚类算法</vt:lpstr>
      <vt:lpstr>AGNES聚类算法</vt:lpstr>
      <vt:lpstr>AGNES聚类算法</vt:lpstr>
      <vt:lpstr>AGNES聚类算法</vt:lpstr>
      <vt:lpstr>AGNES聚类算法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 高峰</dc:creator>
  <cp:lastModifiedBy>子轩 杨</cp:lastModifiedBy>
  <cp:revision>612</cp:revision>
  <dcterms:created xsi:type="dcterms:W3CDTF">2019-06-06T12:37:51Z</dcterms:created>
  <dcterms:modified xsi:type="dcterms:W3CDTF">2026-04-14T05:12:18Z</dcterms:modified>
</cp:coreProperties>
</file>